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24" r:id="rId2"/>
    <p:sldMasterId id="2147483751" r:id="rId3"/>
  </p:sldMasterIdLst>
  <p:notesMasterIdLst>
    <p:notesMasterId r:id="rId5"/>
  </p:notesMasterIdLst>
  <p:sldIdLst>
    <p:sldId id="518" r:id="rId4"/>
  </p:sldIdLst>
  <p:sldSz cx="9906000" cy="6858000" type="A4"/>
  <p:notesSz cx="6858000" cy="9525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FF"/>
    <a:srgbClr val="C7F814"/>
    <a:srgbClr val="FFFFE7"/>
    <a:srgbClr val="000000"/>
    <a:srgbClr val="FDFDCB"/>
    <a:srgbClr val="6699FF"/>
    <a:srgbClr val="F2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1777" autoAdjust="0"/>
  </p:normalViewPr>
  <p:slideViewPr>
    <p:cSldViewPr snapToGrid="0">
      <p:cViewPr varScale="1">
        <p:scale>
          <a:sx n="72" d="100"/>
          <a:sy n="72" d="100"/>
        </p:scale>
        <p:origin x="928" y="2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779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3FB4C-8469-4E66-B5B8-054E4F35BF1A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1190625"/>
            <a:ext cx="4645025" cy="3214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1" y="4583906"/>
            <a:ext cx="5486400" cy="375046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047098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4" y="9047098"/>
            <a:ext cx="2971800" cy="47790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CBFD1-96F7-41B9-8E40-2FFE7CE38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89" y="2130505"/>
            <a:ext cx="8420101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13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86A9B74F-5237-4CA6-97EB-96963C5E25F0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2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022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1" y="160021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927D63AE-1B26-4346-B4CD-5254A40BDF79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3230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45" y="4406975"/>
            <a:ext cx="84201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45" y="2906720"/>
            <a:ext cx="84201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DB006CBA-641C-474A-B9D6-162588B78B33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14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610" y="1600213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38" y="1600213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32718EEC-CEA4-4B3D-B6FC-02CBDEF74036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109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15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15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28" y="1535113"/>
            <a:ext cx="437859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28" y="2174875"/>
            <a:ext cx="437859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CB9D1D5C-C31D-42A1-88B6-3EF91473C6A1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209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A65162F8-EB20-44DF-9765-53598A9B510B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850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FA80657A-1AD6-4861-9BD7-0CC80AF2F335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610152" y="6492884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r>
              <a:rPr lang="en-US" altLang="ko-KR" dirty="0" err="1" smtClean="0">
                <a:solidFill>
                  <a:prstClr val="black"/>
                </a:solidFill>
              </a:rPr>
              <a:t>eed</a:t>
            </a:r>
            <a:r>
              <a:rPr lang="en-US" altLang="ko-KR" dirty="0" smtClean="0">
                <a:solidFill>
                  <a:prstClr val="black"/>
                </a:solidFill>
              </a:rPr>
              <a:t>#/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2" descr="A2"/>
          <p:cNvPicPr>
            <a:picLocks noChangeAspect="1" noChangeArrowheads="1"/>
          </p:cNvPicPr>
          <p:nvPr userDrawn="1"/>
        </p:nvPicPr>
        <p:blipFill>
          <a:blip r:embed="rId2" cstate="print"/>
          <a:srcRect t="9868"/>
          <a:stretch>
            <a:fillRect/>
          </a:stretch>
        </p:blipFill>
        <p:spPr bwMode="auto">
          <a:xfrm>
            <a:off x="-15550" y="-27384"/>
            <a:ext cx="9921552" cy="68853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39337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7572585" y="6465588"/>
            <a:ext cx="2311400" cy="365125"/>
          </a:xfrm>
        </p:spPr>
        <p:txBody>
          <a:bodyPr/>
          <a:lstStyle/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240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99" y="273095"/>
            <a:ext cx="553772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10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67C89B55-FFD4-4485-845A-1C2513D49827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704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131299D1-D8BA-4FD0-B68B-43F5309ADEF7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49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1" y="1600213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2DDB2D6A-D672-4B75-92BB-7AB9618EE3FE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293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51" y="274685"/>
            <a:ext cx="2414588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611" y="274685"/>
            <a:ext cx="70786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30"/>
            <a:ext cx="2311400" cy="365125"/>
          </a:xfrm>
          <a:prstGeom prst="rect">
            <a:avLst/>
          </a:prstGeom>
        </p:spPr>
        <p:txBody>
          <a:bodyPr/>
          <a:lstStyle/>
          <a:p>
            <a:fld id="{6E9668E9-EE59-4C46-822D-FB1A35A49783}" type="datetime1">
              <a:rPr lang="ko-KR" altLang="en-US" smtClean="0">
                <a:solidFill>
                  <a:prstClr val="black"/>
                </a:solidFill>
              </a:rPr>
              <a:pPr/>
              <a:t>2025-07-10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30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7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5172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916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546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214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89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8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8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364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12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1514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468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541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2834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60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70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B3"/>
          <p:cNvPicPr preferRelativeResize="0">
            <a:picLocks noChangeArrowheads="1"/>
          </p:cNvPicPr>
          <p:nvPr userDrawn="1"/>
        </p:nvPicPr>
        <p:blipFill>
          <a:blip r:embed="rId2" cstate="print"/>
          <a:srcRect b="88292"/>
          <a:stretch>
            <a:fillRect/>
          </a:stretch>
        </p:blipFill>
        <p:spPr bwMode="auto">
          <a:xfrm flipH="1">
            <a:off x="4" y="-3176"/>
            <a:ext cx="9906000" cy="68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0854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7545288" y="6492884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5" name="Picture 1" descr="02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"/>
            <a:ext cx="9906000" cy="64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0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B9492-BF8F-43ED-A57D-223A0E7D6F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2025-07-10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CB2AC-A74D-4CE7-A91B-DCEEB301BAE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29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36854"/>
              </p:ext>
            </p:extLst>
          </p:nvPr>
        </p:nvGraphicFramePr>
        <p:xfrm>
          <a:off x="440926" y="816701"/>
          <a:ext cx="9357123" cy="5714017"/>
        </p:xfrm>
        <a:graphic>
          <a:graphicData uri="http://schemas.openxmlformats.org/drawingml/2006/table">
            <a:tbl>
              <a:tblPr/>
              <a:tblGrid>
                <a:gridCol w="1143889">
                  <a:extLst>
                    <a:ext uri="{9D8B030D-6E8A-4147-A177-3AD203B41FA5}">
                      <a16:colId xmlns:a16="http://schemas.microsoft.com/office/drawing/2014/main" xmlns="" val="1352177958"/>
                    </a:ext>
                  </a:extLst>
                </a:gridCol>
                <a:gridCol w="1054525">
                  <a:extLst>
                    <a:ext uri="{9D8B030D-6E8A-4147-A177-3AD203B41FA5}">
                      <a16:colId xmlns:a16="http://schemas.microsoft.com/office/drawing/2014/main" xmlns="" val="3172099959"/>
                    </a:ext>
                  </a:extLst>
                </a:gridCol>
                <a:gridCol w="1041353">
                  <a:extLst>
                    <a:ext uri="{9D8B030D-6E8A-4147-A177-3AD203B41FA5}">
                      <a16:colId xmlns:a16="http://schemas.microsoft.com/office/drawing/2014/main" xmlns="" val="4250510243"/>
                    </a:ext>
                  </a:extLst>
                </a:gridCol>
                <a:gridCol w="2183360">
                  <a:extLst>
                    <a:ext uri="{9D8B030D-6E8A-4147-A177-3AD203B41FA5}">
                      <a16:colId xmlns:a16="http://schemas.microsoft.com/office/drawing/2014/main" xmlns="" val="2813725631"/>
                    </a:ext>
                  </a:extLst>
                </a:gridCol>
                <a:gridCol w="830634">
                  <a:extLst>
                    <a:ext uri="{9D8B030D-6E8A-4147-A177-3AD203B41FA5}">
                      <a16:colId xmlns:a16="http://schemas.microsoft.com/office/drawing/2014/main" xmlns="" val="3740723324"/>
                    </a:ext>
                  </a:extLst>
                </a:gridCol>
                <a:gridCol w="3103362">
                  <a:extLst>
                    <a:ext uri="{9D8B030D-6E8A-4147-A177-3AD203B41FA5}">
                      <a16:colId xmlns:a16="http://schemas.microsoft.com/office/drawing/2014/main" xmlns="" val="2451075059"/>
                    </a:ext>
                  </a:extLst>
                </a:gridCol>
              </a:tblGrid>
              <a:tr h="34168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회사명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대표자</a:t>
                      </a:r>
                      <a:endParaRPr lang="ko-KR" sz="12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연락처</a:t>
                      </a:r>
                      <a:endParaRPr lang="ko-KR" sz="12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성명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sz="12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44152082"/>
                  </a:ext>
                </a:extLst>
              </a:tr>
              <a:tr h="34168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</a:t>
                      </a:r>
                      <a:r>
                        <a:rPr lang="en-US" alt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아이템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이메일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sz="12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19053394"/>
                  </a:ext>
                </a:extLst>
              </a:tr>
              <a:tr h="34168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자본금</a:t>
                      </a:r>
                      <a:r>
                        <a:rPr lang="en-US" sz="1200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억원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소재지</a:t>
                      </a:r>
                      <a:endParaRPr lang="ko-KR" sz="12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회사전화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16629672"/>
                  </a:ext>
                </a:extLst>
              </a:tr>
              <a:tr h="29818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매출액</a:t>
                      </a:r>
                      <a:r>
                        <a:rPr lang="en-US" sz="1200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억원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임직원수</a:t>
                      </a:r>
                      <a:endParaRPr lang="ko-KR" sz="12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휴대전화</a:t>
                      </a: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72532280"/>
                  </a:ext>
                </a:extLst>
              </a:tr>
              <a:tr h="158436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중소벤처기업</a:t>
                      </a:r>
                      <a:endParaRPr lang="en-US" altLang="ko-KR" sz="1200" b="1" kern="1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사업내용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【핵심기술</a:t>
                      </a:r>
                      <a:r>
                        <a:rPr lang="en-US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사업모델</a:t>
                      </a:r>
                      <a:r>
                        <a:rPr lang="en-US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사업경과 서술</a:t>
                      </a:r>
                      <a:r>
                        <a:rPr lang="ko-KR" sz="1200" b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】</a:t>
                      </a:r>
                      <a:endParaRPr lang="en-US" altLang="ko-KR" sz="1200" b="1" kern="100" dirty="0" smtClean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endParaRPr lang="en-US" altLang="ko-KR" sz="1200" b="1" kern="100" dirty="0" smtClean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b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예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핵심기술 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배터리 공정 폐기물을 활용한 직접 재활용 기술</a:t>
                      </a:r>
                      <a:endParaRPr lang="en-US" altLang="ko-KR" sz="1200" b="0" i="1" kern="100" dirty="0" smtClean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      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물과 물리적 방법만으로 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………</a:t>
                      </a: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사업모델 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배터리 공정 폐기물을 수거하여 직접 재활용 기술로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………</a:t>
                      </a: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endParaRPr lang="en-US" altLang="ko-KR" sz="1200" b="0" i="1" kern="100" dirty="0" smtClean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ko-KR" altLang="en-US" sz="1200" b="0" i="1" kern="100" dirty="0" err="1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사업경과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1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일 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100kg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처리가 가능한 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Pilot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공정 구축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공정 최적화 및 샘플 평가</a:t>
                      </a:r>
                      <a:r>
                        <a:rPr lang="en-US" altLang="ko-KR" sz="1200" b="0" i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50175806"/>
                  </a:ext>
                </a:extLst>
              </a:tr>
              <a:tr h="183555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기술</a:t>
                      </a: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지원요청</a:t>
                      </a:r>
                      <a:endParaRPr lang="en-US" altLang="ko-KR" sz="1200" b="1" kern="100" dirty="0" smtClean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내용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【기술자문</a:t>
                      </a:r>
                      <a:r>
                        <a:rPr lang="en-US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연구개발</a:t>
                      </a:r>
                      <a:r>
                        <a:rPr lang="en-US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b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문제해결 </a:t>
                      </a:r>
                      <a:r>
                        <a:rPr lang="ko-KR" sz="12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등 구체적 서술</a:t>
                      </a:r>
                      <a:r>
                        <a:rPr lang="ko-KR" sz="1200" b="1" kern="10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】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70851778"/>
                  </a:ext>
                </a:extLst>
              </a:tr>
              <a:tr h="33597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기술분야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안내참조</a:t>
                      </a:r>
                      <a:r>
                        <a:rPr lang="en-US" sz="120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/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75350055"/>
                  </a:ext>
                </a:extLst>
              </a:tr>
              <a:tr h="40398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기타사항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2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44" marR="6244" marT="6244" marB="6244" anchor="ctr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92298451"/>
                  </a:ext>
                </a:extLst>
              </a:tr>
            </a:tbl>
          </a:graphicData>
        </a:graphic>
      </p:graphicFrame>
      <p:sp>
        <p:nvSpPr>
          <p:cNvPr id="24" name="Text Box 4"/>
          <p:cNvSpPr txBox="1"/>
          <p:nvPr/>
        </p:nvSpPr>
        <p:spPr>
          <a:xfrm>
            <a:off x="959256" y="159606"/>
            <a:ext cx="8482288" cy="65709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75"/>
              </a:spcBef>
              <a:spcAft>
                <a:spcPts val="488"/>
              </a:spcAft>
              <a:defRPr/>
            </a:pPr>
            <a:r>
              <a:rPr lang="ko-KR" altLang="en-US" sz="1400" b="1" kern="100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중소벤처기업 기술지원 </a:t>
            </a:r>
            <a:r>
              <a:rPr lang="ko-KR" altLang="en-US" sz="1400" b="1" kern="1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신청서</a:t>
            </a:r>
            <a:r>
              <a:rPr lang="en-US" altLang="ko-KR" sz="1400" b="1" kern="1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/>
            </a:r>
            <a:br>
              <a:rPr lang="en-US" altLang="ko-KR" sz="1400" b="1" kern="100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</a:br>
            <a:r>
              <a:rPr lang="en-US" altLang="ko-KR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400" kern="100" dirty="0" err="1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포스코벤처지원단의</a:t>
            </a:r>
            <a:r>
              <a:rPr lang="ko-KR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400" kern="100" dirty="0" smtClean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기술지원 </a:t>
            </a:r>
            <a:r>
              <a:rPr lang="ko-KR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희망 </a:t>
            </a:r>
            <a:r>
              <a:rPr lang="ko-KR" altLang="en-US" sz="1400" kern="100" dirty="0" smtClean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중소벤처기업이 </a:t>
            </a:r>
            <a:r>
              <a:rPr lang="ko-KR" altLang="en-US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작성하여 접수</a:t>
            </a:r>
            <a:r>
              <a:rPr lang="en-US" altLang="ko-KR" sz="1400" kern="100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)</a:t>
            </a:r>
            <a:endParaRPr lang="ko-KR" altLang="en-US" sz="1400" kern="1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32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7605</TotalTime>
  <Words>102</Words>
  <Application>Microsoft Office PowerPoint</Application>
  <PresentationFormat>A4 용지(210x297mm)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Times New Roman</vt:lpstr>
      <vt:lpstr>6_Office 테마</vt:lpstr>
      <vt:lpstr>2_Office 테마</vt:lpstr>
      <vt:lpstr>1_Office 테마</vt:lpstr>
      <vt:lpstr>PowerPoint 프레젠테이션</vt:lpstr>
    </vt:vector>
  </TitlesOfParts>
  <Company>posco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POSCOUSER</dc:creator>
  <cp:lastModifiedBy>(주)파이백스</cp:lastModifiedBy>
  <cp:revision>511</cp:revision>
  <cp:lastPrinted>2022-12-18T05:06:03Z</cp:lastPrinted>
  <dcterms:created xsi:type="dcterms:W3CDTF">2019-03-28T23:22:36Z</dcterms:created>
  <dcterms:modified xsi:type="dcterms:W3CDTF">2025-07-10T02:45:57Z</dcterms:modified>
</cp:coreProperties>
</file>